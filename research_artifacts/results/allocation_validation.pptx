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8204bca-bd64-043b-8bb6-0a3059d58e6d}">
          <p14:sldIdLst>
            <p14:sldId id="256"/>
            <p14:sldId id="257"/>
          </p14:sldIdLst>
        </p14:section>
        <p14:section name="Validation" id="{1458442c-e4c1-7a75-9553-19b2c905deee}">
          <p14:sldIdLst>
            <p14:sldId id="258"/>
            <p14:sldId id="259"/>
            <p14:sldId id="260"/>
            <p14:sldId id="261"/>
            <p14:sldId id="262"/>
          </p14:sldIdLst>
        </p14:section>
        <p14:section name="Next steps" id="{ab89e390-b2c6-4498-2b0d-466255c7c31d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Return and risk rise steadily with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return (%)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</c:v>
                  </c:pt>
                  <c:pt idx="4">
                    <c:v>Tier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7.1</c:v>
                </c:pt>
                <c:pt idx="1">
                  <c:v>8.1</c:v>
                </c:pt>
                <c:pt idx="2">
                  <c:v>8.7</c:v>
                </c:pt>
                <c:pt idx="3">
                  <c:v>9.6</c:v>
                </c:pt>
                <c:pt idx="4">
                  <c:v>10.3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Volatility (%)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</c:v>
                  </c:pt>
                  <c:pt idx="4">
                    <c:v>Tier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4.4</c:v>
                </c:pt>
                <c:pt idx="1">
                  <c:v>6.5</c:v>
                </c:pt>
                <c:pt idx="2">
                  <c:v>7.9</c:v>
                </c:pt>
                <c:pt idx="3">
                  <c:v>10.6</c:v>
                </c:pt>
                <c:pt idx="4">
                  <c:v>13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[&lt;4]&quot;&quot;;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</c:v>
                  </c:pt>
                  <c:pt idx="4">
                    <c:v>Tier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15</c:v>
                </c:pt>
                <c:pt idx="2">
                  <c:v>8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Debt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[&lt;4]&quot;&quot;;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</c:v>
                  </c:pt>
                  <c:pt idx="4">
                    <c:v>Tier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50</c:v>
                </c:pt>
                <c:pt idx="2">
                  <c:v>45</c:v>
                </c:pt>
                <c:pt idx="3">
                  <c:v>30</c:v>
                </c:pt>
                <c:pt idx="4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Equity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[&lt;4]&quot;&quot;;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</c:v>
                  </c:pt>
                  <c:pt idx="4">
                    <c:v>Tier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</c:v>
                </c:pt>
                <c:pt idx="1">
                  <c:v>25</c:v>
                </c:pt>
                <c:pt idx="2">
                  <c:v>31</c:v>
                </c:pt>
                <c:pt idx="3">
                  <c:v>44</c:v>
                </c:pt>
                <c:pt idx="4">
                  <c:v>56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Real assets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[&lt;4]&quot;&quot;;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</c:v>
                  </c:pt>
                  <c:pt idx="4">
                    <c:v>Tier 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</c:v>
                </c:pt>
                <c:pt idx="1">
                  <c:v>8</c:v>
                </c:pt>
                <c:pt idx="2">
                  <c:v>12</c:v>
                </c:pt>
                <c:pt idx="3">
                  <c:v>14</c:v>
                </c:pt>
                <c:pt idx="4">
                  <c:v>14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Alternatives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[&lt;4]&quot;&quot;;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</c:v>
                  </c:pt>
                  <c:pt idx="4">
                    <c:v>Tier 5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7</c:v>
                </c:pt>
                <c:pt idx="4">
                  <c:v>8</c:v>
                </c:pt>
              </c:numCache>
            </c:numRef>
          </c:val>
        </c:ser>
        <c:dLbls>
          <c:numFmt formatCode="[&lt;4]&quot;&quot;;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explains how we evaluate the asset allocation page. Accuracy, as used for the risk-tier model, does not apply here, so we validate the engine against five properties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allocation engine has two layers. Layer 1 is a fixed table of minimum and maximum percentages for each asset class, per tier. Layer 2 is an optimizer that picks the split with the best Sharpe ratio inside those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Checks 1 and 2 have been run on the code. Checks 3 to 5 need external data: benchmark portfolios, expert ratings and historical index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pass/fail checks on the engine's own guarantees. All 5 tiers pass all 4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 each tier's limits, the optimizer's split scored a higher Sharpe ratio than all 20,000 randomly drawn valid splits. Expected return rises from 7.1% to 10.3% and volatility from 4.4% to 13.0% as the tier goes up, which is the behaviour we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split per tier as produced by the engine. Cash and debt dominate at tier 1; equity becomes the largest holding by tier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the optimizer pushes most weights to a limit, the limits table effectively sets the allocation. Equity goes to its maximum in tiers 1 and 2 and stays near its minimum in tiers 3 to 5. This is why benchmarking and backtesting the limits matter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Sensibility compares each tier with published model portfolios and asks finance experts to rate them. The backtest uses historical Indian index data as proxies: a liquid fund for cash, a CRISIL bond index for debt, Nifty 50 for equity, gold or REITs for real assets. Robustness checks how sensitive the split is to the assumed returns and volatilities.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line for the presentation. Add backtest and benchmark numbers here once checks 3 to 5 are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the Asset Allocation Engine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check the allocation is right when there is no single “correct” answer to compare against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“true” allocation exists, so we validate 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risk-tier model can be scored against a known tier for each person.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 allocation has no labelled right answer, so “accuracy” does not apply.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Instead we test whether it is correct, optimal, sensible, safe in real markets and stable.</a:t>
            </a:r>
            <a:endParaRPr lang="en-US" sz="1600" dirty="0"/>
          </a:p>
        </p:txBody>
      </p:sp>
      <p:sp>
        <p:nvSpPr>
          <p:cNvPr id="4" name="flow step 1"/>
          <p:cNvSpPr/>
          <p:nvPr/>
        </p:nvSpPr>
        <p:spPr>
          <a:xfrm>
            <a:off x="4754880" y="1143000"/>
            <a:ext cx="393192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low dot 1"/>
          <p:cNvSpPr/>
          <p:nvPr/>
        </p:nvSpPr>
        <p:spPr>
          <a:xfrm>
            <a:off x="4892040" y="128930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94960" y="11978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Final risk tier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from the risk profile (1–5)</a:t>
            </a:r>
            <a:endParaRPr lang="en-US" sz="1200" dirty="0"/>
          </a:p>
        </p:txBody>
      </p:sp>
      <p:sp>
        <p:nvSpPr>
          <p:cNvPr id="8" name="flow arrow 1"/>
          <p:cNvSpPr/>
          <p:nvPr/>
        </p:nvSpPr>
        <p:spPr>
          <a:xfrm>
            <a:off x="6583680" y="1819656"/>
            <a:ext cx="274320" cy="173736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flow step 2"/>
          <p:cNvSpPr/>
          <p:nvPr/>
        </p:nvSpPr>
        <p:spPr>
          <a:xfrm>
            <a:off x="4754880" y="2011680"/>
            <a:ext cx="393192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low dot 2"/>
          <p:cNvSpPr/>
          <p:nvPr/>
        </p:nvSpPr>
        <p:spPr>
          <a:xfrm>
            <a:off x="4892040" y="2157984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0" y="20665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Layer 1 · tier limits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350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min–max % for each asset class</a:t>
            </a:r>
            <a:endParaRPr lang="en-US" sz="1200" dirty="0"/>
          </a:p>
        </p:txBody>
      </p:sp>
      <p:sp>
        <p:nvSpPr>
          <p:cNvPr id="13" name="flow arrow 2"/>
          <p:cNvSpPr/>
          <p:nvPr/>
        </p:nvSpPr>
        <p:spPr>
          <a:xfrm>
            <a:off x="6583680" y="2688336"/>
            <a:ext cx="274320" cy="173736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flow step 3"/>
          <p:cNvSpPr/>
          <p:nvPr/>
        </p:nvSpPr>
        <p:spPr>
          <a:xfrm>
            <a:off x="4754880" y="2880360"/>
            <a:ext cx="393192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flow dot 3"/>
          <p:cNvSpPr/>
          <p:nvPr/>
        </p:nvSpPr>
        <p:spPr>
          <a:xfrm>
            <a:off x="4892040" y="302666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4960" y="29352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Layer 2 · optimizer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best risk-adjusted return (Sharpe) inside the limits</a:t>
            </a:r>
            <a:endParaRPr lang="en-US" sz="1200" dirty="0"/>
          </a:p>
        </p:txBody>
      </p:sp>
      <p:sp>
        <p:nvSpPr>
          <p:cNvPr id="18" name="flow arrow 3"/>
          <p:cNvSpPr/>
          <p:nvPr/>
        </p:nvSpPr>
        <p:spPr>
          <a:xfrm>
            <a:off x="6583680" y="3557016"/>
            <a:ext cx="274320" cy="173736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flow step 4"/>
          <p:cNvSpPr/>
          <p:nvPr/>
        </p:nvSpPr>
        <p:spPr>
          <a:xfrm>
            <a:off x="4754880" y="3749040"/>
            <a:ext cx="393192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flow dot 4"/>
          <p:cNvSpPr/>
          <p:nvPr/>
        </p:nvSpPr>
        <p:spPr>
          <a:xfrm>
            <a:off x="4892040" y="3895344"/>
            <a:ext cx="365760" cy="3657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0" y="38039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Target split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4087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cash · debt · equity · real assets · alternatives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checks replace a single accuracy score</a:t>
            </a:r>
            <a:endParaRPr lang="en-US" sz="2600" dirty="0"/>
          </a:p>
        </p:txBody>
      </p:sp>
      <p:sp>
        <p:nvSpPr>
          <p:cNvPr id="3" name="check card 1"/>
          <p:cNvSpPr/>
          <p:nvPr/>
        </p:nvSpPr>
        <p:spPr>
          <a:xfrm>
            <a:off x="457200" y="1234440"/>
            <a:ext cx="1517904" cy="30175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Correctness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197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Does it obey its own rules?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49040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✓ Done</a:t>
            </a:r>
            <a:endParaRPr lang="en-US" sz="1300" dirty="0"/>
          </a:p>
        </p:txBody>
      </p:sp>
      <p:sp>
        <p:nvSpPr>
          <p:cNvPr id="9" name="check card 2"/>
          <p:cNvSpPr/>
          <p:nvPr/>
        </p:nvSpPr>
        <p:spPr>
          <a:xfrm>
            <a:off x="2139696" y="1234440"/>
            <a:ext cx="1517904" cy="30175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2322576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2257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322576" y="196596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Optimality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322576" y="2377440"/>
            <a:ext cx="1197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Is it the best split inside the limits?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322576" y="3749040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✓ Done</a:t>
            </a:r>
            <a:endParaRPr lang="en-US" sz="1300" dirty="0"/>
          </a:p>
        </p:txBody>
      </p:sp>
      <p:sp>
        <p:nvSpPr>
          <p:cNvPr id="15" name="check card 3"/>
          <p:cNvSpPr/>
          <p:nvPr/>
        </p:nvSpPr>
        <p:spPr>
          <a:xfrm>
            <a:off x="3822192" y="1234440"/>
            <a:ext cx="1517904" cy="30175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 3"/>
          <p:cNvSpPr/>
          <p:nvPr/>
        </p:nvSpPr>
        <p:spPr>
          <a:xfrm>
            <a:off x="4005072" y="14173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0507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005072" y="196596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Sensibility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005072" y="2377440"/>
            <a:ext cx="1197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Is it close to expert and industry portfolios?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005072" y="3749040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Planned</a:t>
            </a:r>
            <a:endParaRPr lang="en-US" sz="1300" dirty="0"/>
          </a:p>
        </p:txBody>
      </p:sp>
      <p:sp>
        <p:nvSpPr>
          <p:cNvPr id="21" name="check card 4"/>
          <p:cNvSpPr/>
          <p:nvPr/>
        </p:nvSpPr>
        <p:spPr>
          <a:xfrm>
            <a:off x="5504688" y="1234440"/>
            <a:ext cx="1517904" cy="30175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adge 4"/>
          <p:cNvSpPr/>
          <p:nvPr/>
        </p:nvSpPr>
        <p:spPr>
          <a:xfrm>
            <a:off x="5687568" y="14173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8756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687568" y="196596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Backtest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687568" y="2377440"/>
            <a:ext cx="1197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Does it behave as promised on real market data?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87568" y="3749040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Planned</a:t>
            </a:r>
            <a:endParaRPr lang="en-US" sz="1300" dirty="0"/>
          </a:p>
        </p:txBody>
      </p:sp>
      <p:sp>
        <p:nvSpPr>
          <p:cNvPr id="27" name="check card 5"/>
          <p:cNvSpPr/>
          <p:nvPr/>
        </p:nvSpPr>
        <p:spPr>
          <a:xfrm>
            <a:off x="7187184" y="1234440"/>
            <a:ext cx="1517904" cy="30175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badge 5"/>
          <p:cNvSpPr/>
          <p:nvPr/>
        </p:nvSpPr>
        <p:spPr>
          <a:xfrm>
            <a:off x="7370064" y="14173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70064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370064" y="196596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Robustness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370064" y="2377440"/>
            <a:ext cx="1197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Does a small change in assumptions flip it?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70064" y="3749040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Planned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1 · Correctness: every rule holds</a:t>
            </a:r>
            <a:endParaRPr lang="en-US" sz="2600" dirty="0"/>
          </a:p>
        </p:txBody>
      </p:sp>
      <p:sp>
        <p:nvSpPr>
          <p:cNvPr id="3" name="rule card 1"/>
          <p:cNvSpPr/>
          <p:nvPr/>
        </p:nvSpPr>
        <p:spPr>
          <a:xfrm>
            <a:off x="457200" y="118872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4173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Weights add up to 100%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2103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pass rate · every tier</a:t>
            </a:r>
            <a:endParaRPr lang="en-US" sz="1200" dirty="0"/>
          </a:p>
        </p:txBody>
      </p:sp>
      <p:sp>
        <p:nvSpPr>
          <p:cNvPr id="7" name="rule card 2"/>
          <p:cNvSpPr/>
          <p:nvPr/>
        </p:nvSpPr>
        <p:spPr>
          <a:xfrm>
            <a:off x="4663440" y="118872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3716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4173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weight stays within its tier’s limits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03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pass rate · every tier and asset class</a:t>
            </a:r>
            <a:endParaRPr lang="en-US" sz="1200" dirty="0"/>
          </a:p>
        </p:txBody>
      </p:sp>
      <p:sp>
        <p:nvSpPr>
          <p:cNvPr id="11" name="rule card 3"/>
          <p:cNvSpPr/>
          <p:nvPr/>
        </p:nvSpPr>
        <p:spPr>
          <a:xfrm>
            <a:off x="457200" y="278892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71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30175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Optimizer converges, never falls back to the midpoint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3703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pass rate · every tier</a:t>
            </a:r>
            <a:endParaRPr lang="en-US" sz="1200" dirty="0"/>
          </a:p>
        </p:txBody>
      </p:sp>
      <p:sp>
        <p:nvSpPr>
          <p:cNvPr id="15" name="rule card 4"/>
          <p:cNvSpPr/>
          <p:nvPr/>
        </p:nvSpPr>
        <p:spPr>
          <a:xfrm>
            <a:off x="4663440" y="278892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2971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0175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same tier always gives the same split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03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pass rate · repeat runs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2 · Optimality: beats 20,000 random splits</a:t>
            </a:r>
            <a:endParaRPr lang="en-US" sz="2600" dirty="0"/>
          </a:p>
        </p:txBody>
      </p:sp>
      <p:sp>
        <p:nvSpPr>
          <p:cNvPr id="3" name="optimality stat card"/>
          <p:cNvSpPr/>
          <p:nvPr/>
        </p:nvSpPr>
        <p:spPr>
          <a:xfrm>
            <a:off x="457200" y="1188720"/>
            <a:ext cx="2926080" cy="32004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20,000 random valid portfolios beaten on Sharpe ratio, in every tier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29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Sharpe ratio by tier: 0.24 · 0.32 · 0.34 · 0.34 · 0.33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0" y="109728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split shifts from safety to growth as tier rises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plit fact 1"/>
          <p:cNvSpPr/>
          <p:nvPr/>
        </p:nvSpPr>
        <p:spPr>
          <a:xfrm>
            <a:off x="6217920" y="118872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 → 56%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equity, tier 1 to tier 5</a:t>
            </a:r>
            <a:endParaRPr lang="en-US" sz="1200" dirty="0"/>
          </a:p>
        </p:txBody>
      </p:sp>
      <p:sp>
        <p:nvSpPr>
          <p:cNvPr id="7" name="split fact 2"/>
          <p:cNvSpPr/>
          <p:nvPr/>
        </p:nvSpPr>
        <p:spPr>
          <a:xfrm>
            <a:off x="6217920" y="233172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 → 2%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cash, tier 1 to tier 5</a:t>
            </a:r>
            <a:endParaRPr lang="en-US" sz="1200" dirty="0"/>
          </a:p>
        </p:txBody>
      </p:sp>
      <p:sp>
        <p:nvSpPr>
          <p:cNvPr id="10" name="split fact 3"/>
          <p:cNvSpPr/>
          <p:nvPr/>
        </p:nvSpPr>
        <p:spPr>
          <a:xfrm>
            <a:off x="6217920" y="347472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 each split stays within its tier’s limits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Watch-out: the limits table drives the split</a:t>
            </a:r>
            <a:endParaRPr lang="en-US" sz="2600" dirty="0"/>
          </a:p>
        </p:txBody>
      </p:sp>
      <p:sp>
        <p:nvSpPr>
          <p:cNvPr id="3" name="watch-out stat card"/>
          <p:cNvSpPr/>
          <p:nvPr/>
        </p:nvSpPr>
        <p:spPr>
          <a:xfrm>
            <a:off x="457200" y="11887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5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weights sit exactly on a limit, in every tier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 the optimizer only fine-tunes; the hand-set limits must be validated themselves (checks 3–4).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37160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limits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chosen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lands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maximum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maximum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28–40%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minimum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42–55%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minimum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55–72%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minimum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3–5 test the limits against the real world</a:t>
            </a:r>
            <a:endParaRPr lang="en-US" sz="2600" dirty="0"/>
          </a:p>
        </p:txBody>
      </p:sp>
      <p:sp>
        <p:nvSpPr>
          <p:cNvPr id="3" name="plan card 3"/>
          <p:cNvSpPr/>
          <p:nvPr/>
        </p:nvSpPr>
        <p:spPr>
          <a:xfrm>
            <a:off x="457200" y="1188720"/>
            <a:ext cx="2624328" cy="3200400"/>
          </a:xfrm>
          <a:prstGeom prst="roundRect">
            <a:avLst>
              <a:gd name="adj" fmla="val 2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3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Sensibility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22128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Distance from benchmark portfolios (sum of % differences)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Equity gap vs benchmark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Expert agreement % or Cohen’s κ</a:t>
            </a:r>
            <a:endParaRPr lang="en-US" sz="1400" dirty="0"/>
          </a:p>
        </p:txBody>
      </p:sp>
      <p:sp>
        <p:nvSpPr>
          <p:cNvPr id="8" name="plan card 4"/>
          <p:cNvSpPr/>
          <p:nvPr/>
        </p:nvSpPr>
        <p:spPr>
          <a:xfrm>
            <a:off x="3264408" y="1188720"/>
            <a:ext cx="2624328" cy="3200400"/>
          </a:xfrm>
          <a:prstGeom prst="roundRect">
            <a:avLst>
              <a:gd name="adj" fmla="val 2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4"/>
          <p:cNvSpPr/>
          <p:nvPr/>
        </p:nvSpPr>
        <p:spPr>
          <a:xfrm>
            <a:off x="3493008" y="13716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95928" y="137160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Backtest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1965960"/>
            <a:ext cx="22128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Return (CAGR), volatility, Sharpe per tier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Maximum drawdown: tier 1 ≪ tier 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Stress tests: 2008, 2020 crash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Tier vs realised risk (Spearman ≈ 1)</a:t>
            </a:r>
            <a:endParaRPr lang="en-US" sz="1400" dirty="0"/>
          </a:p>
        </p:txBody>
      </p:sp>
      <p:sp>
        <p:nvSpPr>
          <p:cNvPr id="13" name="plan card 5"/>
          <p:cNvSpPr/>
          <p:nvPr/>
        </p:nvSpPr>
        <p:spPr>
          <a:xfrm>
            <a:off x="6071616" y="1188720"/>
            <a:ext cx="2624328" cy="3200400"/>
          </a:xfrm>
          <a:prstGeom prst="roundRect">
            <a:avLst>
              <a:gd name="adj" fmla="val 2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5"/>
          <p:cNvSpPr/>
          <p:nvPr/>
        </p:nvSpPr>
        <p:spPr>
          <a:xfrm>
            <a:off x="6300216" y="13716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0216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03136" y="137160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Robustness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1965960"/>
            <a:ext cx="22128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Shift each return / volatility assumption by ±1 pp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Measure how much the split moves (turnover)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Small change = stable advice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Validated, not “accurate”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passes 100% of its rule checks, beats 20,000 random valid portfolios on risk-adjusted return, and its risk and return rise steadily with tier. Next: benchmark and backtest the tier limits.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location Validation">
  <a:themeElements>
    <a:clrScheme name="Allocation Validation">
      <a:dk1>
        <a:srgbClr val="1B2A41"/>
      </a:dk1>
      <a:lt1>
        <a:srgbClr val="FFFFFF"/>
      </a:lt1>
      <a:dk2>
        <a:srgbClr val="475569"/>
      </a:dk2>
      <a:lt2>
        <a:srgbClr val="EEF3F7"/>
      </a:lt2>
      <a:accent1>
        <a:srgbClr val="0F766E"/>
      </a:accent1>
      <a:accent2>
        <a:srgbClr val="D97706"/>
      </a:accent2>
      <a:accent3>
        <a:srgbClr val="2A78D6"/>
      </a:accent3>
      <a:accent4>
        <a:srgbClr val="94A3B8"/>
      </a:accent4>
      <a:accent5>
        <a:srgbClr val="7C3AED"/>
      </a:accent5>
      <a:accent6>
        <a:srgbClr val="B91C1C"/>
      </a:accent6>
      <a:hlink>
        <a:srgbClr val="0F766E"/>
      </a:hlink>
      <a:folHlink>
        <a:srgbClr val="475569"/>
      </a:folHlink>
    </a:clrScheme>
    <a:fontScheme name="Allocation Valid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Validating the Asset Allocation Engine</dc:title>
  <dc:subject>PptxGenJS Presentation</dc:subject>
  <dc:creator>PptxGenJS</dc:creator>
  <cp:lastModifiedBy>PptxGenJS</cp:lastModifiedBy>
  <cp:revision>1</cp:revision>
  <dcterms:created xsi:type="dcterms:W3CDTF">2026-10-22T20:49:59Z</dcterms:created>
  <dcterms:modified xsi:type="dcterms:W3CDTF">2026-10-22T20:49:59Z</dcterms:modified>
</cp:coreProperties>
</file>